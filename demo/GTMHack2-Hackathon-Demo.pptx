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76b8da0e984766" /><Relationship Type="http://schemas.openxmlformats.org/officeDocument/2006/relationships/extended-properties" Target="/docProps/app.xml" Id="R19bab6813fb647a1" /><Relationship Type="http://schemas.openxmlformats.org/officeDocument/2006/relationships/officeDocument" Target="/ppt/presentation.xml" Id="R0b2cc79de9ac44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54019bb3f24202"/>
  </p:sldMasterIdLst>
  <p:notesMasterIdLst>
    <p:notesMasterId xmlns:r="http://schemas.openxmlformats.org/officeDocument/2006/relationships" r:id="Rfd8c12f2cba34c31"/>
  </p:notesMasterIdLst>
  <p:sldIdLst>
    <p:sldId xmlns:r="http://schemas.openxmlformats.org/officeDocument/2006/relationships" id="256" r:id="Rd5ace80cddfc4edc"/>
    <p:sldId xmlns:r="http://schemas.openxmlformats.org/officeDocument/2006/relationships" id="257" r:id="Rf6addce5801c47e3"/>
    <p:sldId xmlns:r="http://schemas.openxmlformats.org/officeDocument/2006/relationships" id="258" r:id="R1c84cc3c0b6a4883"/>
    <p:sldId xmlns:r="http://schemas.openxmlformats.org/officeDocument/2006/relationships" id="259" r:id="R34a87ccfdf2b4351"/>
    <p:sldId xmlns:r="http://schemas.openxmlformats.org/officeDocument/2006/relationships" id="260" r:id="Rf6752e8e73b24155"/>
    <p:sldId xmlns:r="http://schemas.openxmlformats.org/officeDocument/2006/relationships" id="261" r:id="Rb94f8e742b2e425a"/>
    <p:sldId xmlns:r="http://schemas.openxmlformats.org/officeDocument/2006/relationships" id="262" r:id="R4f3cd54f7a2c4b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255bef3e00425a" /><Relationship Type="http://schemas.openxmlformats.org/officeDocument/2006/relationships/slideMaster" Target="/ppt/slideMasters/slideMaster1.xml" Id="Rd854019bb3f24202" /><Relationship Type="http://schemas.openxmlformats.org/officeDocument/2006/relationships/notesMaster" Target="/ppt/notesMasters/notesMaster1.xml" Id="Rfd8c12f2cba34c31" /><Relationship Type="http://schemas.openxmlformats.org/officeDocument/2006/relationships/presProps" Target="/ppt/presProps.xml" Id="Rebd0397d6542470a" /><Relationship Type="http://schemas.openxmlformats.org/officeDocument/2006/relationships/tableStyles" Target="/ppt/tableStyles.xml" Id="R8237adf61b194694" /><Relationship Type="http://schemas.openxmlformats.org/officeDocument/2006/relationships/slide" Target="/ppt/slides/slide1.xml" Id="Rd5ace80cddfc4edc" /><Relationship Type="http://schemas.openxmlformats.org/officeDocument/2006/relationships/slide" Target="/ppt/slides/slide2.xml" Id="Rf6addce5801c47e3" /><Relationship Type="http://schemas.openxmlformats.org/officeDocument/2006/relationships/slide" Target="/ppt/slides/slide3.xml" Id="R1c84cc3c0b6a4883" /><Relationship Type="http://schemas.openxmlformats.org/officeDocument/2006/relationships/slide" Target="/ppt/slides/slide4.xml" Id="R34a87ccfdf2b4351" /><Relationship Type="http://schemas.openxmlformats.org/officeDocument/2006/relationships/slide" Target="/ppt/slides/slide5.xml" Id="Rf6752e8e73b24155" /><Relationship Type="http://schemas.openxmlformats.org/officeDocument/2006/relationships/slide" Target="/ppt/slides/slide6.xml" Id="Rb94f8e742b2e425a" /><Relationship Type="http://schemas.openxmlformats.org/officeDocument/2006/relationships/slide" Target="/ppt/slides/slide7.xml" Id="R4f3cd54f7a2c4b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c01b0a483a40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c5bbe045b840d3" /><Relationship Type="http://schemas.openxmlformats.org/officeDocument/2006/relationships/notesMaster" Target="/ppt/notesMasters/notesMaster1.xml" Id="R4712d345f9db4c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9e7fb768124fe6" /><Relationship Type="http://schemas.openxmlformats.org/officeDocument/2006/relationships/notesMaster" Target="/ppt/notesMasters/notesMaster1.xml" Id="Rb2dcdacc79b54b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d19aad58624aee" /><Relationship Type="http://schemas.openxmlformats.org/officeDocument/2006/relationships/notesMaster" Target="/ppt/notesMasters/notesMaster1.xml" Id="Rce56d91e2e0240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9e1705cdd34644" /><Relationship Type="http://schemas.openxmlformats.org/officeDocument/2006/relationships/notesMaster" Target="/ppt/notesMasters/notesMaster1.xml" Id="R83c7b6b4006440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358611814f4406" /><Relationship Type="http://schemas.openxmlformats.org/officeDocument/2006/relationships/notesMaster" Target="/ppt/notesMasters/notesMaster1.xml" Id="Rec3604e33e564b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98dc710bd04c47" /><Relationship Type="http://schemas.openxmlformats.org/officeDocument/2006/relationships/notesMaster" Target="/ppt/notesMasters/notesMaster1.xml" Id="R87d986d1905446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f42c7429d040d7" /><Relationship Type="http://schemas.openxmlformats.org/officeDocument/2006/relationships/notesMaster" Target="/ppt/notesMasters/notesMaster1.xml" Id="Rd53d947d78bd40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Repository narrative: docs/PROJECT_BRIEF.md; 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Product promise and MVP: docs/PROJECT_BRIEF.md. Review-only boundary: 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Product screenshot created from demo/index.html, demo/app.js, and sanitized fixture data in fixtures/ashtree/verified-competitor.input.json.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Orchestration sequence and stop conditions: agents/00-orchestrator.md; docs/ARCHITECTURE.md. Unify boundary: agents/07-unify-enrichment.md.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Sanitized fixture: fixtures/ashtree/verified-competitor.input.json. Public-ad coverage constraints: docs/ARCHITECTURE.md and context/linkedin-ad-library-usecases/docs/api-knowledge-base/constraints.md.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Unify integration boundary: agents/07-unify-enrichment.md; docs/CREDENTIALS.md. This deck represents the fixture demo; live Unify tools were unavailable in the authoring 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Core value proposition: docs/PROJECT_BRIEF.md; demo presenter flow: demo/README.md.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1e13119f054a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f125a6d39d4d11" /><Relationship Type="http://schemas.openxmlformats.org/officeDocument/2006/relationships/slideLayout" Target="/ppt/slideLayouts/slideLayout1.xml" Id="R73a0921b69cf4c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a0921b69cf4c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241ce8c92485b" /><Relationship Type="http://schemas.openxmlformats.org/officeDocument/2006/relationships/notesSlide" Target="/ppt/notesSlides/notesSlide1.xml" Id="R801c294f35bc49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dfa9c599f40d3" /><Relationship Type="http://schemas.openxmlformats.org/officeDocument/2006/relationships/notesSlide" Target="/ppt/notesSlides/notesSlide2.xml" Id="R13f1f17b29714f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1c7044ee84572" /><Relationship Type="http://schemas.openxmlformats.org/officeDocument/2006/relationships/image" Target="/ppt/media/image.jpeg" Id="R47521968317f44fe" /><Relationship Type="http://schemas.openxmlformats.org/officeDocument/2006/relationships/notesSlide" Target="/ppt/notesSlides/notesSlide3.xml" Id="R147fe46ff4954d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73215f75e84245" /><Relationship Type="http://schemas.openxmlformats.org/officeDocument/2006/relationships/notesSlide" Target="/ppt/notesSlides/notesSlide4.xml" Id="R2bccf184130e44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b44e266924f27" /><Relationship Type="http://schemas.openxmlformats.org/officeDocument/2006/relationships/notesSlide" Target="/ppt/notesSlides/notesSlide5.xml" Id="Readc3de402fd47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ba26d546ee4543" /><Relationship Type="http://schemas.openxmlformats.org/officeDocument/2006/relationships/notesSlide" Target="/ppt/notesSlides/notesSlide6.xml" Id="R1ad9e228dd8e4e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1374a36ca48d0" /><Relationship Type="http://schemas.openxmlformats.org/officeDocument/2006/relationships/notesSlide" Target="/ppt/notesSlides/notesSlide7.xml" Id="Ree11c9ebaf894a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6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76EF6960-BDF7-48EF-AF76-254DAD03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5F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5F563"/>
                </a:solidFill>
                <a:latin typeface="Helvetica Neue"/>
                <a:ea typeface="Helvetica Neue"/>
                <a:cs typeface="Helvetica Neue"/>
              </a:rPr>
              <a:t>GTM HACKATHON · ZENABM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8D1063B-DCFE-4408-ABB2-F8910691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7620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7F7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F7F7F1"/>
                </a:solidFill>
                <a:latin typeface="Helvetica Neue"/>
                <a:ea typeface="Helvetica Neue"/>
                <a:cs typeface="Helvetica Neue"/>
              </a:rPr>
              <a:t>One trial. One useful</a:t>
            </a:r>
          </a:p>
          <a:p xmlns:a="http://schemas.openxmlformats.org/drawingml/2006/main">
            <a:pPr>
              <a:defRPr sz="5250" b="1">
                <a:solidFill>
                  <a:srgbClr val="F7F7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F7F7F1"/>
                </a:solidFill>
                <a:latin typeface="Helvetica Neue"/>
                <a:ea typeface="Helvetica Neue"/>
                <a:cs typeface="Helvetica Neue"/>
              </a:rPr>
              <a:t>first-week next step.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29328EC-6E5F-4606-9EB0-181674B6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704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79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C7CE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C7CEC7"/>
                </a:solidFill>
                <a:latin typeface="Helvetica Neue"/>
                <a:ea typeface="Helvetica Neue"/>
                <a:cs typeface="Helvetica Neue"/>
              </a:rPr>
              <a:t>GTMHack2 turns permitted ABM signals into an evidence-linked plan and a human-reviewable draft - in five minutes.</a:t>
            </a:r>
          </a:p>
        </p:txBody>
      </p:sp>
      <p:sp>
        <p:nvSpPr>
          <p:cNvPr id="4" name="mark">
            <a:extLst xmlns:a="http://schemas.openxmlformats.org/drawingml/2006/main">
              <a:ext uri="{FF2B5EF4-FFF2-40B4-BE49-F238E27FC236}">
                <a16:creationId xmlns:a16="http://schemas.microsoft.com/office/drawing/2014/main" id="{066115D7-6475-4EAF-8F8D-9322D309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81050"/>
            <a:ext cx="1200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F563"/>
          </a:solidFill>
          <a:ln xmlns:a="http://schemas.openxmlformats.org/drawingml/2006/main" w="9525">
            <a:solidFill>
              <a:srgbClr val="C5F563"/>
            </a:solidFill>
            <a:prstDash val="solid"/>
          </a:ln>
        </p:spPr>
      </p:sp>
      <p:sp>
        <p:nvSpPr>
          <p:cNvPr id="5" name="mark-arrow">
            <a:extLst xmlns:a="http://schemas.openxmlformats.org/drawingml/2006/main">
              <a:ext uri="{FF2B5EF4-FFF2-40B4-BE49-F238E27FC236}">
                <a16:creationId xmlns:a16="http://schemas.microsoft.com/office/drawing/2014/main" id="{7E2B7878-3820-4C46-A4D2-BA4F945F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81075"/>
            <a:ext cx="704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D16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D1612"/>
                </a:solidFill>
                <a:latin typeface="Helvetica Neue"/>
                <a:ea typeface="Helvetica Neue"/>
                <a:cs typeface="Helvetica Neue"/>
              </a:rPr>
              <a:t>↗</a:t>
            </a:r>
          </a:p>
        </p:txBody>
      </p:sp>
      <p:sp>
        <p:nvSpPr>
          <p:cNvPr id="6" name="safety-label">
            <a:extLst xmlns:a="http://schemas.openxmlformats.org/drawingml/2006/main">
              <a:ext uri="{FF2B5EF4-FFF2-40B4-BE49-F238E27FC236}">
                <a16:creationId xmlns:a16="http://schemas.microsoft.com/office/drawing/2014/main" id="{4C2C11DC-8522-4F38-9BE1-565760CC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568642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5F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5F563"/>
                </a:solidFill>
                <a:latin typeface="Helvetica Neue"/>
                <a:ea typeface="Helvetica Neue"/>
                <a:cs typeface="Helvetica Neue"/>
              </a:rPr>
              <a:t>DRAFT-ONLY</a:t>
            </a:r>
          </a:p>
          <a:p xmlns:a="http://schemas.openxmlformats.org/drawingml/2006/main">
            <a:pPr>
              <a:defRPr sz="900" b="1">
                <a:solidFill>
                  <a:srgbClr val="C5F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5F563"/>
                </a:solidFill>
                <a:latin typeface="Helvetica Neue"/>
                <a:ea typeface="Helvetica Neue"/>
                <a:cs typeface="Helvetica Neue"/>
              </a:rPr>
              <a:t>HUMAN REVIEW</a:t>
            </a:r>
          </a:p>
        </p:txBody>
      </p:sp>
    </p:spTree>
    <p:extLst>
      <p:ext uri="{BB962C8B-B14F-4D97-AF65-F5344CB8AC3E}">
        <p14:creationId xmlns:p14="http://schemas.microsoft.com/office/powerpoint/2010/main" val="14574809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96915315-986A-4A23-A1C6-4434E45E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THE ORIGINAL PRODUCT PROMISE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6E02DE7-8F78-4A47-91A6-E2EC027D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81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068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06861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7918F74-CD54-434C-960D-0C696752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C9EEEE8-2BBA-466F-9AD2-ED8E6F12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04900"/>
            <a:ext cx="800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91"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0D16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0D1612"/>
                </a:solidFill>
                <a:latin typeface="Helvetica Neue"/>
                <a:ea typeface="Helvetica Neue"/>
                <a:cs typeface="Helvetica Neue"/>
              </a:rPr>
              <a:t>The first days of a trial decide whether value becomes visible.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3D5D3158-5AA5-4748-8AB1-B69D891C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476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68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06861"/>
                </a:solidFill>
                <a:latin typeface="Helvetica Neue"/>
                <a:ea typeface="Helvetica Neue"/>
                <a:cs typeface="Helvetica Neue"/>
              </a:rPr>
              <a:t>GTMHack2 does not build a generic chatbot or an automatic sender. It creates a short, defensible first-week growth brief for one selected trial.</a:t>
            </a:r>
          </a:p>
        </p:txBody>
      </p:sp>
      <p:sp>
        <p:nvSpPr>
          <p:cNvPr id="6" name="promise-panel">
            <a:extLst xmlns:a="http://schemas.openxmlformats.org/drawingml/2006/main">
              <a:ext uri="{FF2B5EF4-FFF2-40B4-BE49-F238E27FC236}">
                <a16:creationId xmlns:a16="http://schemas.microsoft.com/office/drawing/2014/main" id="{9BA6D7EA-4E22-431E-9ED8-441AB3D5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33625"/>
            <a:ext cx="47434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9525">
            <a:solidFill>
              <a:srgbClr val="E9ECE5"/>
            </a:solidFill>
            <a:prstDash val="solid"/>
          </a:ln>
        </p:spPr>
      </p:sp>
      <p:sp>
        <p:nvSpPr>
          <p:cNvPr id="7" name="panel-kicker">
            <a:extLst xmlns:a="http://schemas.openxmlformats.org/drawingml/2006/main">
              <a:ext uri="{FF2B5EF4-FFF2-40B4-BE49-F238E27FC236}">
                <a16:creationId xmlns:a16="http://schemas.microsoft.com/office/drawing/2014/main" id="{E75E5447-8544-4790-927D-04070071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47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THE DELIVERABLE</a:t>
            </a:r>
          </a:p>
        </p:txBody>
      </p:sp>
      <p:sp>
        <p:nvSpPr>
          <p:cNvPr id="8" name="panel-copy">
            <a:extLst xmlns:a="http://schemas.openxmlformats.org/drawingml/2006/main">
              <a:ext uri="{FF2B5EF4-FFF2-40B4-BE49-F238E27FC236}">
                <a16:creationId xmlns:a16="http://schemas.microsoft.com/office/drawing/2014/main" id="{91D77657-38B2-4EAD-9130-CAAB9040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95625"/>
            <a:ext cx="36385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D16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D1612"/>
                </a:solidFill>
                <a:latin typeface="Helvetica Neue"/>
                <a:ea typeface="Helvetica Neue"/>
                <a:cs typeface="Helvetica Neue"/>
              </a:rPr>
              <a:t>A report</a:t>
            </a:r>
          </a:p>
          <a:p xmlns:a="http://schemas.openxmlformats.org/drawingml/2006/main">
            <a:pPr>
              <a:defRPr sz="2400" b="1">
                <a:solidFill>
                  <a:srgbClr val="0D16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D1612"/>
                </a:solidFill>
                <a:latin typeface="Helvetica Neue"/>
                <a:ea typeface="Helvetica Neue"/>
                <a:cs typeface="Helvetica Neue"/>
              </a:rPr>
              <a:t>A CRM draft</a:t>
            </a:r>
          </a:p>
          <a:p xmlns:a="http://schemas.openxmlformats.org/drawingml/2006/main">
            <a:pPr>
              <a:defRPr sz="2400" b="1">
                <a:solidFill>
                  <a:srgbClr val="0D16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D1612"/>
                </a:solidFill>
                <a:latin typeface="Helvetica Neue"/>
                <a:ea typeface="Helvetica Neue"/>
                <a:cs typeface="Helvetica Neue"/>
              </a:rPr>
              <a:t>A reviewable message</a:t>
            </a:r>
          </a:p>
        </p:txBody>
      </p:sp>
      <p:sp>
        <p:nvSpPr>
          <p:cNvPr id="9" name="footer-claim">
            <a:extLst xmlns:a="http://schemas.openxmlformats.org/drawingml/2006/main">
              <a:ext uri="{FF2B5EF4-FFF2-40B4-BE49-F238E27FC236}">
                <a16:creationId xmlns:a16="http://schemas.microsoft.com/office/drawing/2014/main" id="{0C8CBEAC-A277-42E7-8C2D-E321F049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16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D1612"/>
                </a:solidFill>
                <a:latin typeface="Helvetica Neue"/>
                <a:ea typeface="Helvetica Neue"/>
                <a:cs typeface="Helvetica Neue"/>
              </a:rPr>
              <a:t>No automatic outreach. No invented claims.</a:t>
            </a:r>
          </a:p>
        </p:txBody>
      </p:sp>
    </p:spTree>
    <p:extLst>
      <p:ext uri="{BB962C8B-B14F-4D97-AF65-F5344CB8AC3E}">
        <p14:creationId xmlns:p14="http://schemas.microsoft.com/office/powerpoint/2010/main" val="4944269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kicker">
            <a:extLst xmlns:a="http://schemas.openxmlformats.org/drawingml/2006/main">
              <a:ext uri="{FF2B5EF4-FFF2-40B4-BE49-F238E27FC236}">
                <a16:creationId xmlns:a16="http://schemas.microsoft.com/office/drawing/2014/main" id="{F6590071-51E9-4AC3-BF72-CA08D13D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THE INTERACTIVE DEMO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E477CBA-7374-4A4C-8A46-0BD2A412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81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068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06861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11E0A4F-2C70-4AC5-B87E-428CBEC0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83EEF7F-B755-4068-9BEE-23767B53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4476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D16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D1612"/>
                </a:solidFill>
                <a:latin typeface="Helvetica Neue"/>
                <a:ea typeface="Helvetica Neue"/>
                <a:cs typeface="Helvetica Neue"/>
              </a:rPr>
              <a:t>The presentation starts</a:t>
            </a:r>
          </a:p>
          <a:p xmlns:a="http://schemas.openxmlformats.org/drawingml/2006/main">
            <a:pPr>
              <a:defRPr sz="3150" b="1">
                <a:solidFill>
                  <a:srgbClr val="0D16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D1612"/>
                </a:solidFill>
                <a:latin typeface="Helvetica Neue"/>
                <a:ea typeface="Helvetica Neue"/>
                <a:cs typeface="Helvetica Neue"/>
              </a:rPr>
              <a:t>with a single choice.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FB861A65-BDAB-4EA9-8BBC-5422368C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4333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68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06861"/>
                </a:solidFill>
                <a:latin typeface="Helvetica Neue"/>
                <a:ea typeface="Helvetica Neue"/>
                <a:cs typeface="Helvetica Neue"/>
              </a:rPr>
              <a:t>Pick a fixture trial, run the agent handoffs, and inspect the brief. The entire story is visible on one click-through page.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521968317f44fe"/>
          <a:srcRect xmlns:a="http://schemas.openxmlformats.org/drawingml/2006/main" l="0" t="26078" r="0" b="260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1028700"/>
            <a:ext cx="5657850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callout">
            <a:extLst xmlns:a="http://schemas.openxmlformats.org/drawingml/2006/main">
              <a:ext uri="{FF2B5EF4-FFF2-40B4-BE49-F238E27FC236}">
                <a16:creationId xmlns:a16="http://schemas.microsoft.com/office/drawing/2014/main" id="{14D7C1EC-9EDC-4FAF-A57F-00A8ED36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Recommended flow: Northstar Analytics</a:t>
            </a:r>
          </a:p>
        </p:txBody>
      </p:sp>
    </p:spTree>
    <p:extLst>
      <p:ext uri="{BB962C8B-B14F-4D97-AF65-F5344CB8AC3E}">
        <p14:creationId xmlns:p14="http://schemas.microsoft.com/office/powerpoint/2010/main" val="18664028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">
            <a:extLst xmlns:a="http://schemas.openxmlformats.org/drawingml/2006/main">
              <a:ext uri="{FF2B5EF4-FFF2-40B4-BE49-F238E27FC236}">
                <a16:creationId xmlns:a16="http://schemas.microsoft.com/office/drawing/2014/main" id="{FCBE8816-625C-45DF-A727-5D5FF3BB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THE CONTROL PLANE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999C9A2-3101-4A0F-8A20-F4AA104D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81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068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06861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2638156-7B65-4C3C-9A2B-CACFA281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6381CAB-1CB1-4950-98BB-5E13F05B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38225"/>
            <a:ext cx="952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D16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D1612"/>
                </a:solidFill>
                <a:latin typeface="Helvetica Neue"/>
                <a:ea typeface="Helvetica Neue"/>
                <a:cs typeface="Helvetica Neue"/>
              </a:rPr>
              <a:t>Specialist agents do their jobs. One orchestrator keeps the promise.</a:t>
            </a:r>
          </a:p>
        </p:txBody>
      </p:sp>
      <p:sp>
        <p:nvSpPr>
          <p:cNvPr id="5" name="step-0">
            <a:extLst xmlns:a="http://schemas.openxmlformats.org/drawingml/2006/main">
              <a:ext uri="{FF2B5EF4-FFF2-40B4-BE49-F238E27FC236}">
                <a16:creationId xmlns:a16="http://schemas.microsoft.com/office/drawing/2014/main" id="{63C45B1C-BDF7-48E0-99C8-A9FAC611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18097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9525">
            <a:solidFill>
              <a:srgbClr val="E9ECE5"/>
            </a:solidFill>
            <a:prstDash val="solid"/>
          </a:ln>
        </p:spPr>
      </p:sp>
      <p:sp>
        <p:nvSpPr>
          <p:cNvPr id="6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85CA5FB2-002F-4F1A-A336-F77F733B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ABAF1122-AD96-4C82-B973-5A98497D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16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D1612"/>
                </a:solidFill>
                <a:latin typeface="Helvetica Neue"/>
                <a:ea typeface="Helvetica Neue"/>
                <a:cs typeface="Helvetica Neue"/>
              </a:rPr>
              <a:t>Trial gate</a:t>
            </a:r>
          </a:p>
        </p:txBody>
      </p:sp>
      <p:sp>
        <p:nvSpPr>
          <p:cNvPr id="8" name="step-copy-0">
            <a:extLst xmlns:a="http://schemas.openxmlformats.org/drawingml/2006/main">
              <a:ext uri="{FF2B5EF4-FFF2-40B4-BE49-F238E27FC236}">
                <a16:creationId xmlns:a16="http://schemas.microsoft.com/office/drawing/2014/main" id="{A12BA2C7-4E13-409A-A30C-071726AE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68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6861"/>
                </a:solidFill>
                <a:latin typeface="Helvetica Neue"/>
                <a:ea typeface="Helvetica Neue"/>
                <a:cs typeface="Helvetica Neue"/>
              </a:rPr>
              <a:t>Active trial, identity, permission</a:t>
            </a:r>
          </a:p>
        </p:txBody>
      </p:sp>
      <p:sp>
        <p:nvSpPr>
          <p:cNvPr id="9" name="arrow-0">
            <a:extLst xmlns:a="http://schemas.openxmlformats.org/drawingml/2006/main">
              <a:ext uri="{FF2B5EF4-FFF2-40B4-BE49-F238E27FC236}">
                <a16:creationId xmlns:a16="http://schemas.microsoft.com/office/drawing/2014/main" id="{ABCEC87D-4A55-4A1B-97A1-14103900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4861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0" name="step-1">
            <a:extLst xmlns:a="http://schemas.openxmlformats.org/drawingml/2006/main">
              <a:ext uri="{FF2B5EF4-FFF2-40B4-BE49-F238E27FC236}">
                <a16:creationId xmlns:a16="http://schemas.microsoft.com/office/drawing/2014/main" id="{1818E4B2-7286-49AE-95A7-6A062521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838450"/>
            <a:ext cx="18097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9525">
            <a:solidFill>
              <a:srgbClr val="E9ECE5"/>
            </a:solidFill>
            <a:prstDash val="solid"/>
          </a:ln>
        </p:spPr>
      </p:sp>
      <p:sp>
        <p:nvSpPr>
          <p:cNvPr id="11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2485B472-AE5C-41C5-AE36-766D0FC6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0099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0D1C5897-F78E-469E-AD60-2D577E98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44805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86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16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D1612"/>
                </a:solidFill>
                <a:latin typeface="Helvetica Neue"/>
                <a:ea typeface="Helvetica Neue"/>
                <a:cs typeface="Helvetica Neue"/>
              </a:rPr>
              <a:t>ABM + market</a:t>
            </a:r>
          </a:p>
        </p:txBody>
      </p:sp>
      <p:sp>
        <p:nvSpPr>
          <p:cNvPr id="13" name="step-copy-1">
            <a:extLst xmlns:a="http://schemas.openxmlformats.org/drawingml/2006/main">
              <a:ext uri="{FF2B5EF4-FFF2-40B4-BE49-F238E27FC236}">
                <a16:creationId xmlns:a16="http://schemas.microsoft.com/office/drawing/2014/main" id="{CFD424C5-2161-4FD3-8EA4-92DB18FE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876675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017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68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6861"/>
                </a:solidFill>
                <a:latin typeface="Helvetica Neue"/>
                <a:ea typeface="Helvetica Neue"/>
                <a:cs typeface="Helvetica Neue"/>
              </a:rPr>
              <a:t>Owned signals + verified competitor context</a:t>
            </a:r>
          </a:p>
        </p:txBody>
      </p:sp>
      <p:sp>
        <p:nvSpPr>
          <p:cNvPr id="14" name="arrow-1">
            <a:extLst xmlns:a="http://schemas.openxmlformats.org/drawingml/2006/main">
              <a:ext uri="{FF2B5EF4-FFF2-40B4-BE49-F238E27FC236}">
                <a16:creationId xmlns:a16="http://schemas.microsoft.com/office/drawing/2014/main" id="{5171C634-BFA1-42E9-B1C8-0EBFDAC6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4861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5" name="step-2">
            <a:extLst xmlns:a="http://schemas.openxmlformats.org/drawingml/2006/main">
              <a:ext uri="{FF2B5EF4-FFF2-40B4-BE49-F238E27FC236}">
                <a16:creationId xmlns:a16="http://schemas.microsoft.com/office/drawing/2014/main" id="{00FE7AC7-60F9-4092-8752-28223C69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38450"/>
            <a:ext cx="18097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9525">
            <a:solidFill>
              <a:srgbClr val="E9ECE5"/>
            </a:solidFill>
            <a:prstDash val="solid"/>
          </a:ln>
        </p:spPr>
      </p:sp>
      <p:sp>
        <p:nvSpPr>
          <p:cNvPr id="16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8D76CC5A-7692-42FD-9D04-7D05B239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099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6E102973-ADC6-46D9-8891-A7BA389E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44805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16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D1612"/>
                </a:solidFill>
                <a:latin typeface="Helvetica Neue"/>
                <a:ea typeface="Helvetica Neue"/>
                <a:cs typeface="Helvetica Neue"/>
              </a:rPr>
              <a:t>Unify context</a:t>
            </a:r>
          </a:p>
        </p:txBody>
      </p:sp>
      <p:sp>
        <p:nvSpPr>
          <p:cNvPr id="18" name="step-copy-2">
            <a:extLst xmlns:a="http://schemas.openxmlformats.org/drawingml/2006/main">
              <a:ext uri="{FF2B5EF4-FFF2-40B4-BE49-F238E27FC236}">
                <a16:creationId xmlns:a16="http://schemas.microsoft.com/office/drawing/2014/main" id="{00DE00E2-DEC0-42FA-AFF7-25BDECC1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876675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68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6861"/>
                </a:solidFill>
                <a:latin typeface="Helvetica Neue"/>
                <a:ea typeface="Helvetica Neue"/>
                <a:cs typeface="Helvetica Neue"/>
              </a:rPr>
              <a:t>Bounded account brief or DataTable</a:t>
            </a:r>
          </a:p>
        </p:txBody>
      </p:sp>
      <p:sp>
        <p:nvSpPr>
          <p:cNvPr id="19" name="arrow-2">
            <a:extLst xmlns:a="http://schemas.openxmlformats.org/drawingml/2006/main">
              <a:ext uri="{FF2B5EF4-FFF2-40B4-BE49-F238E27FC236}">
                <a16:creationId xmlns:a16="http://schemas.microsoft.com/office/drawing/2014/main" id="{F56D47E3-AE8F-41F1-8D54-15DE25D6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861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0" name="step-3">
            <a:extLst xmlns:a="http://schemas.openxmlformats.org/drawingml/2006/main">
              <a:ext uri="{FF2B5EF4-FFF2-40B4-BE49-F238E27FC236}">
                <a16:creationId xmlns:a16="http://schemas.microsoft.com/office/drawing/2014/main" id="{EAB4982D-E338-4441-9732-FA087E9A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838450"/>
            <a:ext cx="18097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9525">
            <a:solidFill>
              <a:srgbClr val="E9ECE5"/>
            </a:solidFill>
            <a:prstDash val="solid"/>
          </a:ln>
        </p:spPr>
      </p:sp>
      <p:sp>
        <p:nvSpPr>
          <p:cNvPr id="21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5BEA01C6-8115-4D98-9CD7-44A55F78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0099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2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1D2F75DC-0F99-4543-83A5-379B440B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44805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16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D1612"/>
                </a:solidFill>
                <a:latin typeface="Helvetica Neue"/>
                <a:ea typeface="Helvetica Neue"/>
                <a:cs typeface="Helvetica Neue"/>
              </a:rPr>
              <a:t>Synthesis</a:t>
            </a:r>
          </a:p>
        </p:txBody>
      </p:sp>
      <p:sp>
        <p:nvSpPr>
          <p:cNvPr id="23" name="step-copy-3">
            <a:extLst xmlns:a="http://schemas.openxmlformats.org/drawingml/2006/main">
              <a:ext uri="{FF2B5EF4-FFF2-40B4-BE49-F238E27FC236}">
                <a16:creationId xmlns:a16="http://schemas.microsoft.com/office/drawing/2014/main" id="{7CD0AAFC-FC08-4CB9-ADAC-0A70B094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876675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68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6861"/>
                </a:solidFill>
                <a:latin typeface="Helvetica Neue"/>
                <a:ea typeface="Helvetica Neue"/>
                <a:cs typeface="Helvetica Neue"/>
              </a:rPr>
              <a:t>Three evidence-linked actions</a:t>
            </a:r>
          </a:p>
        </p:txBody>
      </p:sp>
      <p:sp>
        <p:nvSpPr>
          <p:cNvPr id="24" name="arrow-3">
            <a:extLst xmlns:a="http://schemas.openxmlformats.org/drawingml/2006/main">
              <a:ext uri="{FF2B5EF4-FFF2-40B4-BE49-F238E27FC236}">
                <a16:creationId xmlns:a16="http://schemas.microsoft.com/office/drawing/2014/main" id="{DA224B18-11BC-4AA9-B5CD-DFDFA32C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4861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5" name="step-4">
            <a:extLst xmlns:a="http://schemas.openxmlformats.org/drawingml/2006/main">
              <a:ext uri="{FF2B5EF4-FFF2-40B4-BE49-F238E27FC236}">
                <a16:creationId xmlns:a16="http://schemas.microsoft.com/office/drawing/2014/main" id="{1AB42338-B5A1-436C-973F-98AB256F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38450"/>
            <a:ext cx="18097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6" name="step-number-4">
            <a:extLst xmlns:a="http://schemas.openxmlformats.org/drawingml/2006/main">
              <a:ext uri="{FF2B5EF4-FFF2-40B4-BE49-F238E27FC236}">
                <a16:creationId xmlns:a16="http://schemas.microsoft.com/office/drawing/2014/main" id="{90F706FC-1A1C-4E0E-B2CF-92523ACF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099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7" name="step-title-4">
            <a:extLst xmlns:a="http://schemas.openxmlformats.org/drawingml/2006/main">
              <a:ext uri="{FF2B5EF4-FFF2-40B4-BE49-F238E27FC236}">
                <a16:creationId xmlns:a16="http://schemas.microsoft.com/office/drawing/2014/main" id="{2E60BEC2-3E12-450E-BA70-DC6D5967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4805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16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D1612"/>
                </a:solidFill>
                <a:latin typeface="Helvetica Neue"/>
                <a:ea typeface="Helvetica Neue"/>
                <a:cs typeface="Helvetica Neue"/>
              </a:rPr>
              <a:t>Policy</a:t>
            </a:r>
          </a:p>
        </p:txBody>
      </p:sp>
      <p:sp>
        <p:nvSpPr>
          <p:cNvPr id="28" name="step-copy-4">
            <a:extLst xmlns:a="http://schemas.openxmlformats.org/drawingml/2006/main">
              <a:ext uri="{FF2B5EF4-FFF2-40B4-BE49-F238E27FC236}">
                <a16:creationId xmlns:a16="http://schemas.microsoft.com/office/drawing/2014/main" id="{49284C5A-89B8-4788-85A6-E62509E0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876675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68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6861"/>
                </a:solidFill>
                <a:latin typeface="Helvetica Neue"/>
                <a:ea typeface="Helvetica Neue"/>
                <a:cs typeface="Helvetica Neue"/>
              </a:rPr>
              <a:t>No unsupported claim, no send</a:t>
            </a:r>
          </a:p>
        </p:txBody>
      </p:sp>
      <p:sp>
        <p:nvSpPr>
          <p:cNvPr id="29" name="flow-note">
            <a:extLst xmlns:a="http://schemas.openxmlformats.org/drawingml/2006/main">
              <a:ext uri="{FF2B5EF4-FFF2-40B4-BE49-F238E27FC236}">
                <a16:creationId xmlns:a16="http://schemas.microsoft.com/office/drawing/2014/main" id="{88166045-EFB1-47BE-94B3-8B8565CC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68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06861"/>
                </a:solidFill>
                <a:latin typeface="Helvetica Neue"/>
                <a:ea typeface="Helvetica Neue"/>
                <a:cs typeface="Helvetica Neue"/>
              </a:rPr>
              <a:t>Five-minute timebox. If required evidence is absent, return an honest partial brief or stop safely.</a:t>
            </a:r>
          </a:p>
        </p:txBody>
      </p:sp>
    </p:spTree>
    <p:extLst>
      <p:ext uri="{BB962C8B-B14F-4D97-AF65-F5344CB8AC3E}">
        <p14:creationId xmlns:p14="http://schemas.microsoft.com/office/powerpoint/2010/main" val="14616231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">
            <a:extLst xmlns:a="http://schemas.openxmlformats.org/drawingml/2006/main">
              <a:ext uri="{FF2B5EF4-FFF2-40B4-BE49-F238E27FC236}">
                <a16:creationId xmlns:a16="http://schemas.microsoft.com/office/drawing/2014/main" id="{0FAD89E2-4E3B-4DCE-95B9-7DD3E39A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EVIDENCE, NOT INVENTION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3F63F9E-4B8D-4A85-B041-D4860A1D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81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068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06861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A68DDEA-3016-4214-A73F-CA830036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A9F2874-53E0-4BDE-A4FF-068BA8E0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47750"/>
            <a:ext cx="876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452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D16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0D1612"/>
                </a:solidFill>
                <a:latin typeface="Helvetica Neue"/>
                <a:ea typeface="Helvetica Neue"/>
                <a:cs typeface="Helvetica Neue"/>
              </a:rPr>
              <a:t>The strongest feature is knowing what not to claim.</a:t>
            </a:r>
          </a:p>
        </p:txBody>
      </p:sp>
      <p:sp>
        <p:nvSpPr>
          <p:cNvPr id="5" name="known">
            <a:extLst xmlns:a="http://schemas.openxmlformats.org/drawingml/2006/main">
              <a:ext uri="{FF2B5EF4-FFF2-40B4-BE49-F238E27FC236}">
                <a16:creationId xmlns:a16="http://schemas.microsoft.com/office/drawing/2014/main" id="{84195177-E85A-47B0-A9D8-3A6E5923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49720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6" name="known-label">
            <a:extLst xmlns:a="http://schemas.openxmlformats.org/drawingml/2006/main">
              <a:ext uri="{FF2B5EF4-FFF2-40B4-BE49-F238E27FC236}">
                <a16:creationId xmlns:a16="http://schemas.microsoft.com/office/drawing/2014/main" id="{3FE78CA3-0C76-45F4-AA76-66AFE471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WE CAN SAY</a:t>
            </a:r>
          </a:p>
        </p:txBody>
      </p:sp>
      <p:sp>
        <p:nvSpPr>
          <p:cNvPr id="7" name="known-copy">
            <a:extLst xmlns:a="http://schemas.openxmlformats.org/drawingml/2006/main">
              <a:ext uri="{FF2B5EF4-FFF2-40B4-BE49-F238E27FC236}">
                <a16:creationId xmlns:a16="http://schemas.microsoft.com/office/drawing/2014/main" id="{5789FF03-139F-4761-AF82-D705B8B1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886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619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D16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D1612"/>
                </a:solidFill>
                <a:latin typeface="Helvetica Neue"/>
                <a:ea typeface="Helvetica Neue"/>
                <a:cs typeface="Helvetica Neue"/>
              </a:rPr>
              <a:t>Orbit Metrics is verified, and a public ad observation is available.</a:t>
            </a:r>
          </a:p>
        </p:txBody>
      </p:sp>
      <p:sp>
        <p:nvSpPr>
          <p:cNvPr id="8" name="known-source">
            <a:extLst xmlns:a="http://schemas.openxmlformats.org/drawingml/2006/main">
              <a:ext uri="{FF2B5EF4-FFF2-40B4-BE49-F238E27FC236}">
                <a16:creationId xmlns:a16="http://schemas.microsoft.com/office/drawing/2014/main" id="{B821A041-D8AE-4C55-A0F0-1D9FCAD5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68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6861"/>
                </a:solidFill>
                <a:latin typeface="Helvetica Neue"/>
                <a:ea typeface="Helvetica Neue"/>
                <a:cs typeface="Helvetica Neue"/>
              </a:rPr>
              <a:t>Evidence: obs_001 · directional confidence</a:t>
            </a:r>
          </a:p>
        </p:txBody>
      </p:sp>
      <p:sp>
        <p:nvSpPr>
          <p:cNvPr id="9" name="unknown">
            <a:extLst xmlns:a="http://schemas.openxmlformats.org/drawingml/2006/main">
              <a:ext uri="{FF2B5EF4-FFF2-40B4-BE49-F238E27FC236}">
                <a16:creationId xmlns:a16="http://schemas.microsoft.com/office/drawing/2014/main" id="{EF810EC8-A6CA-4FDA-ABF6-EF5FF096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266950"/>
            <a:ext cx="49720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7"/>
          </a:solidFill>
          <a:ln xmlns:a="http://schemas.openxmlformats.org/drawingml/2006/main" w="9525">
            <a:solidFill>
              <a:srgbClr val="FFF1E7"/>
            </a:solidFill>
            <a:prstDash val="solid"/>
          </a:ln>
        </p:spPr>
      </p:sp>
      <p:sp>
        <p:nvSpPr>
          <p:cNvPr id="10" name="unknown-label">
            <a:extLst xmlns:a="http://schemas.openxmlformats.org/drawingml/2006/main">
              <a:ext uri="{FF2B5EF4-FFF2-40B4-BE49-F238E27FC236}">
                <a16:creationId xmlns:a16="http://schemas.microsoft.com/office/drawing/2014/main" id="{6D507117-2FC9-4F82-BE03-1B47FB30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71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E63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E632E"/>
                </a:solidFill>
                <a:latin typeface="Helvetica Neue"/>
                <a:ea typeface="Helvetica Neue"/>
                <a:cs typeface="Helvetica Neue"/>
              </a:rPr>
              <a:t>WE DO NOT SAY</a:t>
            </a:r>
          </a:p>
        </p:txBody>
      </p:sp>
      <p:sp>
        <p:nvSpPr>
          <p:cNvPr id="11" name="unknown-copy">
            <a:extLst xmlns:a="http://schemas.openxmlformats.org/drawingml/2006/main">
              <a:ext uri="{FF2B5EF4-FFF2-40B4-BE49-F238E27FC236}">
                <a16:creationId xmlns:a16="http://schemas.microsoft.com/office/drawing/2014/main" id="{6D7FB1FB-002E-4F70-A222-325F1381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48000"/>
            <a:ext cx="3857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D16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D1612"/>
                </a:solidFill>
                <a:latin typeface="Helvetica Neue"/>
                <a:ea typeface="Helvetica Neue"/>
                <a:cs typeface="Helvetica Neue"/>
              </a:rPr>
              <a:t>Spend, clicks, creative, targeting, or causal impact.</a:t>
            </a:r>
          </a:p>
        </p:txBody>
      </p:sp>
      <p:sp>
        <p:nvSpPr>
          <p:cNvPr id="12" name="unknown-source">
            <a:extLst xmlns:a="http://schemas.openxmlformats.org/drawingml/2006/main">
              <a:ext uri="{FF2B5EF4-FFF2-40B4-BE49-F238E27FC236}">
                <a16:creationId xmlns:a16="http://schemas.microsoft.com/office/drawing/2014/main" id="{F71463CC-F5A0-4ED9-AFD7-EB69731A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148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68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6861"/>
                </a:solidFill>
                <a:latin typeface="Helvetica Neue"/>
                <a:ea typeface="Helvetica Neue"/>
                <a:cs typeface="Helvetica Neue"/>
              </a:rPr>
              <a:t>Public visibility is partial; impressions are unknown.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4D07D1E8-C370-4425-8FA9-031118F8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68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06861"/>
                </a:solidFill>
                <a:latin typeface="Helvetica Neue"/>
                <a:ea typeface="Helvetica Neue"/>
                <a:cs typeface="Helvetica Neue"/>
              </a:rPr>
              <a:t>That honesty is why a trial user can trust the next step.</a:t>
            </a:r>
          </a:p>
        </p:txBody>
      </p:sp>
    </p:spTree>
    <p:extLst>
      <p:ext uri="{BB962C8B-B14F-4D97-AF65-F5344CB8AC3E}">
        <p14:creationId xmlns:p14="http://schemas.microsoft.com/office/powerpoint/2010/main" val="6154309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EC051035-A125-4A63-96DE-101B8700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WHY UNIFY FITS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3DD108D-CFA1-44AC-AECC-E69C005D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81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068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06861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239E9A9-FC8C-4225-A4D4-71DD8CC2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893994D-2C95-4AF6-ACF6-9EEDE375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8858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317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D16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D1612"/>
                </a:solidFill>
                <a:latin typeface="Helvetica Neue"/>
                <a:ea typeface="Helvetica Neue"/>
                <a:cs typeface="Helvetica Neue"/>
              </a:rPr>
              <a:t>Unify adds account context - not a shortcut around permission.</a:t>
            </a:r>
          </a:p>
        </p:txBody>
      </p:sp>
      <p:sp>
        <p:nvSpPr>
          <p:cNvPr id="5" name="subhead">
            <a:extLst xmlns:a="http://schemas.openxmlformats.org/drawingml/2006/main">
              <a:ext uri="{FF2B5EF4-FFF2-40B4-BE49-F238E27FC236}">
                <a16:creationId xmlns:a16="http://schemas.microsoft.com/office/drawing/2014/main" id="{FF2D9C41-F0ED-402E-8739-6A94E114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241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For one verified trial account only</a:t>
            </a:r>
          </a:p>
        </p:txBody>
      </p:sp>
      <p:sp>
        <p:nvSpPr>
          <p:cNvPr id="6" name="row-label-0">
            <a:extLst xmlns:a="http://schemas.openxmlformats.org/drawingml/2006/main">
              <a:ext uri="{FF2B5EF4-FFF2-40B4-BE49-F238E27FC236}">
                <a16:creationId xmlns:a16="http://schemas.microsoft.com/office/drawing/2014/main" id="{524A9AFD-077C-4411-ADCE-EF880B12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D16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D1612"/>
                </a:solidFill>
                <a:latin typeface="Helvetica Neue"/>
                <a:ea typeface="Helvetica Neue"/>
                <a:cs typeface="Helvetica Neue"/>
              </a:rPr>
              <a:t>Input</a:t>
            </a:r>
          </a:p>
        </p:txBody>
      </p:sp>
      <p:sp>
        <p:nvSpPr>
          <p:cNvPr id="7" name="row-copy-0">
            <a:extLst xmlns:a="http://schemas.openxmlformats.org/drawingml/2006/main">
              <a:ext uri="{FF2B5EF4-FFF2-40B4-BE49-F238E27FC236}">
                <a16:creationId xmlns:a16="http://schemas.microsoft.com/office/drawing/2014/main" id="{E3050F12-937F-4BDA-98F3-84625A84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876550"/>
            <a:ext cx="690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68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6861"/>
                </a:solidFill>
                <a:latin typeface="Helvetica Neue"/>
                <a:ea typeface="Helvetica Neue"/>
                <a:cs typeface="Helvetica Neue"/>
              </a:rPr>
              <a:t>Company name + domain + explicit research question</a:t>
            </a:r>
          </a:p>
        </p:txBody>
      </p:sp>
      <p:sp>
        <p:nvSpPr>
          <p:cNvPr id="8" name="row-rule-0">
            <a:extLst xmlns:a="http://schemas.openxmlformats.org/drawingml/2006/main">
              <a:ext uri="{FF2B5EF4-FFF2-40B4-BE49-F238E27FC236}">
                <a16:creationId xmlns:a16="http://schemas.microsoft.com/office/drawing/2014/main" id="{ACF12DE5-3427-47B2-9274-01B8176D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8591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row-label-1">
            <a:extLst xmlns:a="http://schemas.openxmlformats.org/drawingml/2006/main">
              <a:ext uri="{FF2B5EF4-FFF2-40B4-BE49-F238E27FC236}">
                <a16:creationId xmlns:a16="http://schemas.microsoft.com/office/drawing/2014/main" id="{A6B3ABAD-8FC9-4BE7-82E1-4811A0A1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48050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D16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D1612"/>
                </a:solidFill>
                <a:latin typeface="Helvetica Neue"/>
                <a:ea typeface="Helvetica Neue"/>
                <a:cs typeface="Helvetica Neue"/>
              </a:rPr>
              <a:t>Output</a:t>
            </a:r>
          </a:p>
        </p:txBody>
      </p:sp>
      <p:sp>
        <p:nvSpPr>
          <p:cNvPr id="10" name="row-copy-1">
            <a:extLst xmlns:a="http://schemas.openxmlformats.org/drawingml/2006/main">
              <a:ext uri="{FF2B5EF4-FFF2-40B4-BE49-F238E27FC236}">
                <a16:creationId xmlns:a16="http://schemas.microsoft.com/office/drawing/2014/main" id="{8AC6E8B5-C26F-4114-8BDF-3E602851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448050"/>
            <a:ext cx="690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68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6861"/>
                </a:solidFill>
                <a:latin typeface="Helvetica Neue"/>
                <a:ea typeface="Helvetica Neue"/>
                <a:cs typeface="Helvetica Neue"/>
              </a:rPr>
              <a:t>Bounded account brief or DataTable reference</a:t>
            </a:r>
          </a:p>
        </p:txBody>
      </p:sp>
      <p:sp>
        <p:nvSpPr>
          <p:cNvPr id="11" name="row-rule-1">
            <a:extLst xmlns:a="http://schemas.openxmlformats.org/drawingml/2006/main">
              <a:ext uri="{FF2B5EF4-FFF2-40B4-BE49-F238E27FC236}">
                <a16:creationId xmlns:a16="http://schemas.microsoft.com/office/drawing/2014/main" id="{4386F95A-5928-4425-BF32-10866CCF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8591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row-label-2">
            <a:extLst xmlns:a="http://schemas.openxmlformats.org/drawingml/2006/main">
              <a:ext uri="{FF2B5EF4-FFF2-40B4-BE49-F238E27FC236}">
                <a16:creationId xmlns:a16="http://schemas.microsoft.com/office/drawing/2014/main" id="{58CBD9B2-288A-49E7-BA9A-F797602B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9550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D16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D1612"/>
                </a:solidFill>
                <a:latin typeface="Helvetica Neue"/>
                <a:ea typeface="Helvetica Neue"/>
                <a:cs typeface="Helvetica Neue"/>
              </a:rPr>
              <a:t>Limits</a:t>
            </a:r>
          </a:p>
        </p:txBody>
      </p:sp>
      <p:sp>
        <p:nvSpPr>
          <p:cNvPr id="13" name="row-copy-2">
            <a:extLst xmlns:a="http://schemas.openxmlformats.org/drawingml/2006/main">
              <a:ext uri="{FF2B5EF4-FFF2-40B4-BE49-F238E27FC236}">
                <a16:creationId xmlns:a16="http://schemas.microsoft.com/office/drawing/2014/main" id="{6AE5C0CA-7528-4ED8-BA92-B28AD899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19550"/>
            <a:ext cx="690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68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6861"/>
                </a:solidFill>
                <a:latin typeface="Helvetica Neue"/>
                <a:ea typeface="Helvetica Neue"/>
                <a:cs typeface="Helvetica Neue"/>
              </a:rPr>
              <a:t>Free/user-owned sources first; no person discovery</a:t>
            </a:r>
          </a:p>
        </p:txBody>
      </p:sp>
      <p:sp>
        <p:nvSpPr>
          <p:cNvPr id="14" name="row-rule-2">
            <a:extLst xmlns:a="http://schemas.openxmlformats.org/drawingml/2006/main">
              <a:ext uri="{FF2B5EF4-FFF2-40B4-BE49-F238E27FC236}">
                <a16:creationId xmlns:a16="http://schemas.microsoft.com/office/drawing/2014/main" id="{95EF4EB0-ECE8-47AB-BFF8-E567DF72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29125"/>
            <a:ext cx="8591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row-label-3">
            <a:extLst xmlns:a="http://schemas.openxmlformats.org/drawingml/2006/main">
              <a:ext uri="{FF2B5EF4-FFF2-40B4-BE49-F238E27FC236}">
                <a16:creationId xmlns:a16="http://schemas.microsoft.com/office/drawing/2014/main" id="{D9C4E0C3-BECB-477A-8FF1-6BFC7536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D16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D1612"/>
                </a:solidFill>
                <a:latin typeface="Helvetica Neue"/>
                <a:ea typeface="Helvetica Neue"/>
                <a:cs typeface="Helvetica Neue"/>
              </a:rPr>
              <a:t>Never</a:t>
            </a:r>
          </a:p>
        </p:txBody>
      </p:sp>
      <p:sp>
        <p:nvSpPr>
          <p:cNvPr id="16" name="row-copy-3">
            <a:extLst xmlns:a="http://schemas.openxmlformats.org/drawingml/2006/main">
              <a:ext uri="{FF2B5EF4-FFF2-40B4-BE49-F238E27FC236}">
                <a16:creationId xmlns:a16="http://schemas.microsoft.com/office/drawing/2014/main" id="{6A94F906-3F43-440B-8577-193C6F65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91050"/>
            <a:ext cx="690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68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6861"/>
                </a:solidFill>
                <a:latin typeface="Helvetica Neue"/>
                <a:ea typeface="Helvetica Neue"/>
                <a:cs typeface="Helvetica Neue"/>
              </a:rPr>
              <a:t>No Lists, sequences, enrollment, tasks, or sending</a:t>
            </a:r>
          </a:p>
        </p:txBody>
      </p:sp>
      <p:sp>
        <p:nvSpPr>
          <p:cNvPr id="17" name="row-rule-3">
            <a:extLst xmlns:a="http://schemas.openxmlformats.org/drawingml/2006/main">
              <a:ext uri="{FF2B5EF4-FFF2-40B4-BE49-F238E27FC236}">
                <a16:creationId xmlns:a16="http://schemas.microsoft.com/office/drawing/2014/main" id="{E2DD89FD-323A-478D-91B3-95664B4E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00625"/>
            <a:ext cx="8591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unify-panel">
            <a:extLst xmlns:a="http://schemas.openxmlformats.org/drawingml/2006/main">
              <a:ext uri="{FF2B5EF4-FFF2-40B4-BE49-F238E27FC236}">
                <a16:creationId xmlns:a16="http://schemas.microsoft.com/office/drawing/2014/main" id="{20C3FE4D-17E8-49AA-8DA1-76BD7158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47900"/>
            <a:ext cx="13716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612"/>
          </a:solidFill>
          <a:ln xmlns:a="http://schemas.openxmlformats.org/drawingml/2006/main" w="9525">
            <a:solidFill>
              <a:srgbClr val="0D1612"/>
            </a:solidFill>
            <a:prstDash val="solid"/>
          </a:ln>
        </p:spPr>
      </p:sp>
      <p:sp>
        <p:nvSpPr>
          <p:cNvPr id="19" name="unify-label">
            <a:extLst xmlns:a="http://schemas.openxmlformats.org/drawingml/2006/main">
              <a:ext uri="{FF2B5EF4-FFF2-40B4-BE49-F238E27FC236}">
                <a16:creationId xmlns:a16="http://schemas.microsoft.com/office/drawing/2014/main" id="{63BD9412-CA70-4A5A-906E-B4158296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6098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5F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5F563"/>
                </a:solidFill>
                <a:latin typeface="Helvetica Neue"/>
                <a:ea typeface="Helvetica Neue"/>
                <a:cs typeface="Helvetica Neue"/>
              </a:rPr>
              <a:t>UNIFY</a:t>
            </a:r>
          </a:p>
        </p:txBody>
      </p:sp>
      <p:sp>
        <p:nvSpPr>
          <p:cNvPr id="20" name="unify-copy">
            <a:extLst xmlns:a="http://schemas.openxmlformats.org/drawingml/2006/main">
              <a:ext uri="{FF2B5EF4-FFF2-40B4-BE49-F238E27FC236}">
                <a16:creationId xmlns:a16="http://schemas.microsoft.com/office/drawing/2014/main" id="{AC74AD60-43CB-476C-8227-77AFAA3D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171825"/>
            <a:ext cx="857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648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7F7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7F1"/>
                </a:solidFill>
                <a:latin typeface="Helvetica Neue"/>
                <a:ea typeface="Helvetica Neue"/>
                <a:cs typeface="Helvetica Neue"/>
              </a:rPr>
              <a:t>bounded</a:t>
            </a:r>
          </a:p>
          <a:p xmlns:a="http://schemas.openxmlformats.org/drawingml/2006/main">
            <a:pPr>
              <a:defRPr sz="2100" b="1">
                <a:solidFill>
                  <a:srgbClr val="F7F7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7F1"/>
                </a:solidFill>
                <a:latin typeface="Helvetica Neue"/>
                <a:ea typeface="Helvetica Neue"/>
                <a:cs typeface="Helvetica Neue"/>
              </a:rPr>
              <a:t>research</a:t>
            </a:r>
          </a:p>
          <a:p xmlns:a="http://schemas.openxmlformats.org/drawingml/2006/main">
            <a:pPr>
              <a:defRPr sz="2100" b="1">
                <a:solidFill>
                  <a:srgbClr val="F7F7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7F1"/>
                </a:solidFill>
                <a:latin typeface="Helvetica Neue"/>
                <a:ea typeface="Helvetica Neue"/>
                <a:cs typeface="Helvetica Neue"/>
              </a:rPr>
              <a:t>only</a:t>
            </a:r>
          </a:p>
        </p:txBody>
      </p:sp>
    </p:spTree>
    <p:extLst>
      <p:ext uri="{BB962C8B-B14F-4D97-AF65-F5344CB8AC3E}">
        <p14:creationId xmlns:p14="http://schemas.microsoft.com/office/powerpoint/2010/main" val="19054348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6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802873EC-D87E-4E1F-8348-179BC5B3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5F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5F563"/>
                </a:solidFill>
                <a:latin typeface="Helvetica Neue"/>
                <a:ea typeface="Helvetica Neue"/>
                <a:cs typeface="Helvetica Neue"/>
              </a:rPr>
              <a:t>THE DEMO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C75F6CD4-1897-42F3-9E1F-99E296CC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8001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801"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F7F7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F7F7F1"/>
                </a:solidFill>
                <a:latin typeface="Helvetica Neue"/>
                <a:ea typeface="Helvetica Neue"/>
                <a:cs typeface="Helvetica Neue"/>
              </a:rPr>
              <a:t>Pick a trial.</a:t>
            </a:r>
          </a:p>
          <a:p xmlns:a="http://schemas.openxmlformats.org/drawingml/2006/main">
            <a:pPr>
              <a:defRPr sz="4950" b="1">
                <a:solidFill>
                  <a:srgbClr val="F7F7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F7F7F1"/>
                </a:solidFill>
                <a:latin typeface="Helvetica Neue"/>
                <a:ea typeface="Helvetica Neue"/>
                <a:cs typeface="Helvetica Neue"/>
              </a:rPr>
              <a:t>See the evidence.</a:t>
            </a:r>
          </a:p>
          <a:p xmlns:a="http://schemas.openxmlformats.org/drawingml/2006/main">
            <a:pPr>
              <a:defRPr sz="4950" b="1">
                <a:solidFill>
                  <a:srgbClr val="F7F7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F7F7F1"/>
                </a:solidFill>
                <a:latin typeface="Helvetica Neue"/>
                <a:ea typeface="Helvetica Neue"/>
                <a:cs typeface="Helvetica Neue"/>
              </a:rPr>
              <a:t>Approve the next move.</a:t>
            </a:r>
          </a:p>
        </p:txBody>
      </p:sp>
      <p:sp>
        <p:nvSpPr>
          <p:cNvPr id="3" name="close-body">
            <a:extLst xmlns:a="http://schemas.openxmlformats.org/drawingml/2006/main">
              <a:ext uri="{FF2B5EF4-FFF2-40B4-BE49-F238E27FC236}">
                <a16:creationId xmlns:a16="http://schemas.microsoft.com/office/drawing/2014/main" id="{00C1DF85-AA60-4F58-A453-71B72EEE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62475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7CE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C7CEC7"/>
                </a:solidFill>
                <a:latin typeface="Helvetica Neue"/>
                <a:ea typeface="Helvetica Neue"/>
                <a:cs typeface="Helvetica Neue"/>
              </a:rPr>
              <a:t>GTMHack2 makes the first five minutes of a ZenABM trial feel useful - before anyone asks for a conversion.</a:t>
            </a:r>
          </a:p>
        </p:txBody>
      </p:sp>
      <p:sp>
        <p:nvSpPr>
          <p:cNvPr id="4" name="repo">
            <a:extLst xmlns:a="http://schemas.openxmlformats.org/drawingml/2006/main">
              <a:ext uri="{FF2B5EF4-FFF2-40B4-BE49-F238E27FC236}">
                <a16:creationId xmlns:a16="http://schemas.microsoft.com/office/drawing/2014/main" id="{79F502F3-FC4F-418A-A9A5-5AFBD9FA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007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5F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5F563"/>
                </a:solidFill>
                <a:latin typeface="Helvetica Neue"/>
                <a:ea typeface="Helvetica Neue"/>
                <a:cs typeface="Helvetica Neue"/>
              </a:rPr>
              <a:t>github.com/MilesatAshvantAnand/gtmhack2</a:t>
            </a:r>
          </a:p>
        </p:txBody>
      </p:sp>
    </p:spTree>
    <p:extLst>
      <p:ext uri="{BB962C8B-B14F-4D97-AF65-F5344CB8AC3E}">
        <p14:creationId xmlns:p14="http://schemas.microsoft.com/office/powerpoint/2010/main" val="8513955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2026-08-15T14:38:52.8780000Z</dcterms:created>
  <dcterms:modified xsi:type="dcterms:W3CDTF">2026-08-15T14:38:52.8780000Z</dcterms:modified>
</coreProperties>
</file>